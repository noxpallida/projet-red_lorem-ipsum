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66FFFF"/>
    <a:srgbClr val="00FF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2T14:15:38.47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1,'20711'0,"-20694"0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2T14:16:04.9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1,'20667'0,"-20818"0,224 0,-69 0,-16 0,-32 0,18 0,75 0,-2057 0,4167 0,-16776 0,26856 0,-12220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4:17:29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3670 1 24575,'0'274'0,"0"-261"0,-2-1 0,-4 24 0,3-22 0,0-1 0,0 18 0,2 306 0,2-163 0,-2-161 0,0 0 0,-5 23 0,2-23 0,2 1 0,-1 16 0,1-14 0,-1 0 0,0-1 0,-1 1 0,0-1 0,-2 0 0,0 0 0,-11 20 0,13-29 0,0-1 0,0 1 0,0-1 0,-1-1 0,0 1 0,0-1 0,0 0 0,0 0 0,-1 0 0,-10 5 0,-26 20 0,37-24 0,1-1 0,-1 0 0,-1 0 0,1-1 0,0 0 0,-1 1 0,0-2 0,0 1 0,-10 2 0,1-1 0,-1-2 0,-26 2 0,39-4 0,-31 4 0,1 1 0,-33 10 0,38-7 0,-1-2 0,1-1 0,-44 1 0,-37 3 0,-4-1 0,6-6 0,-93-5 0,143-5 0,36 4 0,-37-1 0,43 5 0,-5 0 0,-1 0 0,1-2 0,-30-6 0,20 1 0,0 1 0,0 1 0,-44-1 0,56 5 0,-1-1 0,-20-5 0,-4 0 0,-1-1 0,27 5 0,0 0 0,-24 0 0,-454 3 0,475-1 0,-37-6 0,37 3 0,-37-1 0,30 3 0,-1-1 0,-50-12 0,7 1 0,34 7 0,19 3 0,0 1 0,-28 0 0,7 3 0,16 1 0,-1-1 0,1-2 0,-46-7 0,41 4 0,-1 2 0,0 1 0,0 1 0,-36 3 0,-4 0 0,22-1 0,6 0 0,0-2 0,-68-10 0,79 6 0,1 2 0,-1 1 0,0 2 0,-38 4 0,67-4 0,-1-1 0,1 2 0,0-1 0,0 0 0,0 0 0,0 0 0,-1 0 0,1 1 0,0-1 0,0 1 0,0-1 0,0 1 0,0-1 0,0 1 0,0-1 0,0 1 0,0 0 0,0 0 0,0 0 0,0-1 0,1 1 0,-1 0 0,0 0 0,1 0 0,-1 0 0,0 0 0,0 2 0,1-1 0,0 0 0,0 1 0,0-1 0,0 0 0,0 0 0,0 0 0,1 1 0,-1-1 0,1 0 0,0 0 0,-1 0 0,1 0 0,2 3 0,3 7 0,1-1 0,1 0 0,15 17 0,-7-9 0,2-1 0,0 0 0,38 27 0,-51-41 0,0 1 0,0 0 0,0 0 0,0 0 0,6 11 0,-6-9 0,0-1 0,0 1 0,12 10 0,-8-10 0,0 1 0,0-1 0,0 1 0,0 1 0,11 14 0,-3-4 0,-9-16 0,-9-15 0,-3 2 0,0 0 0,-1 1 0,0 0 0,0 0 0,-1 0 0,0 0 0,-1 1 0,0 0 0,-13-11 0,8 7 0,1-1 0,-15-20 0,15 19 0,0 0 0,-1 1 0,0 0 0,-19-14 0,14 12 0,1 0 0,-16-21 0,10 14 0,17 17 0,-1 0 0,1-1 0,0 0 0,0 0 0,-5-8 0,9 12 0,1 0 0,-1 1 0,0-1 0,0 0 0,1 0 0,-1 0 0,1 0 0,0 0 0,0 0 0,-1 0 0,1 0 0,0 0 0,1 1 0,-1-1 0,0 0 0,1 0 0,-1 0 0,1 0 0,-1 0 0,1 0 0,0 1 0,0-1 0,-1 0 0,1 0 0,2-2 0,4-3 0,0 0 0,0 0 0,1 0 0,-1 1 0,2 0 0,12-7 0,22-16 0,-31 20 0,1 0 0,1 1 0,-1 1 0,25-10 0,-22 11 0,-1 0 0,-1-2 0,28-17 0,-32 18 0,0 0 0,1 1 0,15-6 0,-15 7 0,0 0 0,-1-1 0,17-11 0,4-3 0,-26 17 0,0 0 0,0 0 0,0 0 0,0 0 0,-1-1 0,1 0 0,-1 0 0,0 0 0,0 0 0,4-6 0,-8 9 0,0 1 0,0 0 0,0-1 0,0 1 0,0 0 0,0-1 0,0 1 0,0 0 0,0-1 0,0 1 0,0 0 0,0-1 0,-1 1 0,1 0 0,0-1 0,0 1 0,0 0 0,0-1 0,0 1 0,-1 0 0,1 0 0,0-1 0,0 1 0,0 0 0,-1 0 0,1-1 0,0 1 0,-1 0 0,1 0 0,0 0 0,0 0 0,-1-1 0,1 1 0,0 0 0,-1 0 0,1 0 0,0 0 0,-1 0 0,1 0 0,0 0 0,-1 0 0,1 0 0,0 0 0,-1 0 0,1 0 0,-20-2 0,18 2 0,-5 1 0,0-1 0,-1 1 0,1 0 0,0 1 0,0-1 0,0 2 0,0-1 0,1 1 0,-1 0 0,0 0 0,-5 4 0,-10 8 0,-35 31 0,5-5 0,21-17 0,23-17 0,0 0 0,0-1 0,-1 0 0,-15 8 0,10-7 0,2 1 0,-1 0 0,1 1 0,-18 17 0,-3 3 0,29-26 0,0 1 0,0 0 0,0 0 0,1 1 0,0-1 0,-1 1 0,2 0 0,-1-1 0,1 1 0,0 1 0,0-1 0,0 0 0,0 0 0,0 7 0,0-4 0,1 1 0,1-1 0,-1 0 0,1 1 0,1-1 0,-1 0 0,2 1 0,3 14 0,-3-18 8,0 0 0,1 0 0,0-1 0,0 1 0,0-1 1,1 0-1,-1 0 0,1 0 0,0 0 0,0-1 0,0 1 0,1-1 0,-1 0 0,8 3 0,-5-1-305,1 0 0,-1 0-1,0 1 1,9 8 0,-10-6-6529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4:17:44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0 425 24575,'0'-359'0,"0"357"0,0-1 0,0 1 0,0 0 0,0 0 0,1 0 0,-1 0 0,0-1 0,1 1 0,0 0 0,-1 0 0,1 0 0,0 0 0,0 0 0,0 0 0,0 0 0,1 1 0,-1-1 0,0 0 0,3-1 0,0 0 0,0 0 0,1 1 0,-1 0 0,1 0 0,0 0 0,-1 1 0,9-2 0,-10 1 0,1 1 0,0 0 0,1 0 0,-1 1 0,0-1 0,0 1 0,0 0 0,0 0 0,0 1 0,0-1 0,1 1 0,-1 0 0,0 0 0,0 0 0,0 0 0,-1 1 0,1-1 0,0 1 0,-1 0 0,1 0 0,-1 1 0,1-1 0,-1 1 0,0 0 0,0-1 0,0 1 0,0 1 0,-1-1 0,1 0 0,-1 1 0,0-1 0,0 1 0,0 0 0,-1-1 0,1 1 0,-1 0 0,0 0 0,0 0 0,1 8 0,-1-7 0,0 0 0,0 0 0,-1 0 0,0 0 0,0 1 0,0-1 0,-1 0 0,0 0 0,0 0 0,0 0 0,-2 7 0,1-9 0,0 1 0,0-1 0,0 0 0,-1 0 0,1 0 0,-1 0 0,0 0 0,1 0 0,-1-1 0,-1 0 0,1 1 0,0-1 0,0 0 0,-1 0 0,-5 2 0,1-1-195,-1 1 0,0-1 0,0 0 0,0-1 0,0 0 0,-18 2 0,12-4-6631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4:17:33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22 24575,'-8'-1'0,"1"0"0,0 0 0,0 0 0,-8-4 0,-26-3 0,22 7 0,8-1 0,1 1 0,-1 1 0,0 0 0,0 0 0,0 1 0,0 1 0,-11 2 0,19-2 0,1-1 0,-1 1 0,1 0 0,0 0 0,0 0 0,-1 0 0,2 0 0,-1 0 0,0 0 0,0 1 0,1-1 0,-1 1 0,1-1 0,0 1 0,0 0 0,0 0 0,0-1 0,0 1 0,0 5 0,-1 2 0,1-1 0,0 1 0,0-1 0,2 17 0,-1-24 0,0 0 0,1 0 0,-1 0 0,1-1 0,-1 1 0,1 0 0,-1 0 0,1-1 0,0 1 0,0 0 0,0-1 0,0 1 0,0-1 0,0 1 0,1-1 0,-1 0 0,0 1 0,1-1 0,-1 0 0,3 1 0,1 1 0,1 0 0,0-1 0,0 0 0,10 3 0,-12-4 0,0-1 0,0 1 0,0 0 0,-1 1 0,1-1 0,0 1 0,-1 0 0,1-1 0,-1 2 0,0-1 0,0 0 0,1 1 0,3 4 0,-3 0 0,0 1 0,0 0 0,-1 0 0,-1 1 0,1-1 0,-1 0 0,-1 1 0,1 0 0,-1-1 0,-1 1 0,0 0 0,0-1 0,-2 12 0,2-18 0,-1 0 0,1 0 0,-1 0 0,1 0 0,-1-1 0,0 1 0,0 0 0,1 0 0,-1-1 0,0 1 0,-1-1 0,1 1 0,0-1 0,0 1 0,-1-1 0,1 0 0,-1 0 0,1 0 0,-1 0 0,1 0 0,-1 0 0,0 0 0,0 0 0,1 0 0,-1-1 0,0 1 0,0-1 0,0 1 0,0-1 0,-2 0 0,-9 1 0,1 0 0,-1-1 0,-21-3 0,11 2 0,0 1-106,-23-2 337,43 2-331,1-1 1,-1 0 0,1 1-1,-1-1 1,1 0 0,-1 0-1,1 0 1,-1 0 0,1-1 0,0 1-1,0-1 1,0 1 0,0-1-1,-3-3 1,-3-5-6727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4:17:35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 24575,'0'23'0,"0"0"0,-2 0 0,-6 34 0,-13 9 0,7-29 0,0 16-1365,10-42-5461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4:17:36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24575,'0'32'0,"0"0"0,-2 0 0,-1 0 0,-16 63 0,-3-11-1365,19-69-5461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4:17:3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24575,'3'0'0,"4"0"0,3 0 0,3 0 0,3 0 0,1 0 0,0 0 0,1 0 0,0 0 0,-3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4:17:4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36 309 24575,'0'1'0,"1"1"0,-1-1 0,0 1 0,1 0 0,-1-1 0,1 1 0,0-1 0,-1 1 0,1-1 0,0 0 0,0 1 0,0-1 0,0 0 0,0 1 0,0-1 0,0 0 0,1 0 0,-1 0 0,0 0 0,0 0 0,1 0 0,-1-1 0,1 1 0,-1 0 0,1-1 0,-1 1 0,1-1 0,0 1 0,-1-1 0,1 0 0,-1 0 0,3 1 0,9 0 0,0 0 0,0-1 0,14-1 0,-12 1 0,-10 0 0,0 0 0,0 0 0,1-1 0,-1 0 0,0 0 0,0 0 0,0 0 0,9-4 0,-12 3 0,1 0 0,0 0 0,0-1 0,-1 1 0,0 0 0,1-1 0,-1 1 0,0-1 0,0 0 0,0 0 0,-1 0 0,1 0 0,-1 0 0,2-5 0,4-9 0,-2 6 0,-1 1 0,0-1 0,-1 0 0,0 0 0,0 0 0,-1-1 0,0-12 0,-1-2 0,0 15 0,0 0 0,-1 1 0,-1-1 0,1 0 0,-2 0 0,1 1 0,-6-19 0,5 26 0,0 1 0,0-1 0,0 0 0,0 1 0,0 0 0,-1-1 0,1 1 0,-1 0 0,1 0 0,-1 1 0,0-1 0,1 0 0,-1 1 0,0 0 0,0-1 0,0 1 0,0 1 0,-1-1 0,-4-1 0,-8 0 0,1 0 0,-26 1 0,40 1 0,-7 0 0,0 0 0,0 1 0,0-1 0,0 1 0,0 1 0,0 0 0,-9 3 0,14-4 0,0 1 0,0 0 0,0-1 0,1 1 0,-1 0 0,1 1 0,-1-1 0,1 0 0,0 1 0,0-1 0,0 1 0,0 0 0,0-1 0,0 1 0,1 0 0,-1 0 0,1 0 0,0 0 0,0 1 0,-1 4 0,-4 17 0,1 0 0,1 1 0,-1 29 0,5-47 0,0 0 0,0 0 0,1 0 0,0 0 0,1-1 0,-1 1 0,1 0 0,1-1 0,0 1 0,0-1 0,0 0 0,1 0 0,0 0 0,8 11 0,-10-16-85,1 0 0,-1 0-1,0-1 1,1 1 0,0 0-1,-1-1 1,1 1 0,0-1-1,-1 0 1,1 0 0,0 0-1,0 0 1,0-1 0,0 1-1,4-1 1,7 1-6741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4:17:48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24575,'3'0'0,"4"0"0,3 0 0,4 0 0,1 0 0,-1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5CAFD-541C-486B-9669-FBD5802595C8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F2397-DD6B-48AB-8F0E-9129135794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84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F2397-DD6B-48AB-8F0E-91291357940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398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F2397-DD6B-48AB-8F0E-91291357940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9851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CE4D78-4401-5E61-A31D-2015BFA9C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41DECD5-4FF7-B5B1-B89B-4123707D0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34FC81-6AE1-7BDA-0E69-EADCAFE75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289D78-045B-6CF7-AEA2-E8A37F1B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FD6023-6F6B-3406-54E6-25BAF627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73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A3CAB-DDC9-95F9-CA86-0CEB13A1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F00F4D-5295-17AE-8D31-623AF7398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0740CA-477C-92D0-C614-7A81AD20E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42656D-A9FF-701E-62E8-26113274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E0EF2B-B3CD-A16C-76D1-81F52A96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89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A1CF15-8A76-D1AE-58D1-7E80E4B6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BB8E68-399C-381E-A5BE-FD7FAF221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798BF7-45CB-9F9C-AC0A-7A09A266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965072-2DC7-8002-67E4-E8D89CB2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17941F-366B-9502-0790-078EA57A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93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9E2EC-5518-EAE1-AAA6-DDE5CD01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C551DE-684A-60C3-BAFA-3FEE3C71B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E0CD8D-2489-FACF-E413-93552E269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CF9DFB-BD40-870A-F7BE-63BCB513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6A8D77-98DE-907B-4080-4EAA8687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0659BF-95EB-96A0-9F8E-67B720A8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739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0F1E0A-C86D-4D9F-F44A-788A2FBD7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866AB8-B44A-B4FB-30DB-FEB31E23E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BACB59-D203-924B-77BA-7EBDE9969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8379E8F-BE7C-C2AF-6DE6-F2E350AE1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15F5CC-C8CA-00B4-5031-6E95C2B70C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60DCED-18D0-5F80-9A6B-51EA2590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AAC3B68-4A53-B5BC-8932-F073D205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13D924-7ECC-80BA-A4F6-513C83B4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96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09D440-E39F-9CC8-E4AB-93962DD37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5C1AFC-8995-ADF7-E913-337A823B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AE0DC64-38CC-1580-5719-414688E9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4FCBEC-BC3A-9ECD-0DFF-7F1204F3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733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790C369-37D0-B04E-98FA-80E9EED9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8C84061-CBD6-88C3-6E16-3BC7406D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2E59E2-BA34-4043-7275-9CBA5884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601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184E9A-3207-4048-C47D-A47C0832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D5916B-4498-B440-F781-C4047ECBB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40CED2-2034-5CE1-8764-6EB174CD7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B0FCB6-5435-262E-AACE-4798F397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F1709D-DC88-4565-7790-A9B1EACC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284FDC-6773-F13C-8F9A-62889ED2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770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89A5B-3EB8-1135-40FA-C5BA1188D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7565F96-8808-C68B-3315-137DD9E51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690241-421F-9C4D-3D82-6160256FA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74BA7B-1CF1-0F6E-624D-3EAFE928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8D3BC6-DAC9-9E40-785B-6BE714B5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36B971-EC66-9E20-9BDD-8DB5786A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7383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7E4DBB-DBE0-863E-AE81-C79FC3B6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87FC3B-3119-D327-7DB3-70F2B5A70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8E8FB0-A81A-6091-2AAA-B936D563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F369A5-8F64-FC67-C69F-3EEDE6686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421109-540B-268D-6279-E24E46DC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17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AB973EF-C7E6-14C3-DDCC-7E12A2540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9F0A7A-4C39-FAB5-3649-0C8C653D1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BFE15D-21F6-16B2-7777-29BB38BF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1B0FB1-3DBA-F284-7F04-50EB7AD3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16AE8F-23DA-1A60-07C4-0D48888A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139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21800EB-57B2-B2F9-013A-F7319F0B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CB3223-C230-FD0A-6C18-6B36894E0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8DA2DE-210B-52DA-9C33-CF4E78128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CB88C-4DDD-42FB-8408-E6C31534BE60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6D9B24-213B-A8AB-7B5F-1E8A954B5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6A717D-5658-C545-9E1F-E550571AF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F1B77-C837-4127-B687-CB85D66928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26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3" Type="http://schemas.openxmlformats.org/officeDocument/2006/relationships/image" Target="../media/image5.png"/><Relationship Id="rId21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" Type="http://schemas.openxmlformats.org/officeDocument/2006/relationships/image" Target="../media/image2.jpe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24" Type="http://schemas.openxmlformats.org/officeDocument/2006/relationships/image" Target="../media/image8.png"/><Relationship Id="rId5" Type="http://schemas.openxmlformats.org/officeDocument/2006/relationships/image" Target="../media/image6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10" Type="http://schemas.openxmlformats.org/officeDocument/2006/relationships/customXml" Target="../ink/ink4.xml"/><Relationship Id="rId19" Type="http://schemas.openxmlformats.org/officeDocument/2006/relationships/image" Target="../media/image14.png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emf"/><Relationship Id="rId12" Type="http://schemas.openxmlformats.org/officeDocument/2006/relationships/image" Target="../media/image29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oleObject" Target="../embeddings/oleObject1.bin"/><Relationship Id="rId11" Type="http://schemas.openxmlformats.org/officeDocument/2006/relationships/image" Target="../media/image28.png"/><Relationship Id="rId5" Type="http://schemas.openxmlformats.org/officeDocument/2006/relationships/audio" Target="../media/audio1.wav"/><Relationship Id="rId10" Type="http://schemas.openxmlformats.org/officeDocument/2006/relationships/image" Target="../media/image27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Forêt Magique, Fée, Forêt, Magie, Atmosphère. Wallpaper in 3840x2160 Resolution">
            <a:extLst>
              <a:ext uri="{FF2B5EF4-FFF2-40B4-BE49-F238E27FC236}">
                <a16:creationId xmlns:a16="http://schemas.microsoft.com/office/drawing/2014/main" id="{58ECDE6E-7065-2D6B-E61C-A28D1A23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09"/>
            <a:ext cx="12195749" cy="686010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5BF348F-953F-73D1-466E-FE2FBAB71629}"/>
              </a:ext>
            </a:extLst>
          </p:cNvPr>
          <p:cNvSpPr txBox="1"/>
          <p:nvPr/>
        </p:nvSpPr>
        <p:spPr>
          <a:xfrm>
            <a:off x="710859" y="214793"/>
            <a:ext cx="107702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0" dirty="0">
                <a:solidFill>
                  <a:srgbClr val="00FFFF"/>
                </a:solidFill>
                <a:latin typeface="Algerian" panose="04020705040A02060702" pitchFamily="82" charset="0"/>
              </a:rPr>
              <a:t>RUNA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A738F0F-6D8B-345A-189C-F5E016FB971F}"/>
              </a:ext>
            </a:extLst>
          </p:cNvPr>
          <p:cNvSpPr txBox="1"/>
          <p:nvPr/>
        </p:nvSpPr>
        <p:spPr>
          <a:xfrm>
            <a:off x="440835" y="1955014"/>
            <a:ext cx="1077028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0" b="1" dirty="0">
                <a:solidFill>
                  <a:srgbClr val="66FFFF"/>
                </a:solidFill>
                <a:latin typeface="Kunstler Script" panose="030304020206070D0D06" pitchFamily="66" charset="0"/>
              </a:rPr>
              <a:t>Nowhere to go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9581BB0-23B7-AE75-B61C-DEFB345F143E}"/>
              </a:ext>
            </a:extLst>
          </p:cNvPr>
          <p:cNvSpPr txBox="1"/>
          <p:nvPr/>
        </p:nvSpPr>
        <p:spPr>
          <a:xfrm>
            <a:off x="67505" y="5934670"/>
            <a:ext cx="1994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Axel de Bouard</a:t>
            </a:r>
          </a:p>
          <a:p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Lucas Gonzalez</a:t>
            </a:r>
          </a:p>
          <a:p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Aaron Perucca</a:t>
            </a:r>
          </a:p>
        </p:txBody>
      </p:sp>
    </p:spTree>
    <p:extLst>
      <p:ext uri="{BB962C8B-B14F-4D97-AF65-F5344CB8AC3E}">
        <p14:creationId xmlns:p14="http://schemas.microsoft.com/office/powerpoint/2010/main" val="162979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Fonds pour diaporamas : 15 exemples et modèles - Venngage">
            <a:extLst>
              <a:ext uri="{FF2B5EF4-FFF2-40B4-BE49-F238E27FC236}">
                <a16:creationId xmlns:a16="http://schemas.microsoft.com/office/drawing/2014/main" id="{E88FF922-6B73-FD93-2C6F-77F0C7654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43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B62A758-CD18-0A29-4422-E9BE6281F3BD}"/>
              </a:ext>
            </a:extLst>
          </p:cNvPr>
          <p:cNvSpPr txBox="1"/>
          <p:nvPr/>
        </p:nvSpPr>
        <p:spPr>
          <a:xfrm>
            <a:off x="2475221" y="312983"/>
            <a:ext cx="72415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400" b="1" u="sng" dirty="0">
                <a:latin typeface="Arial Black" panose="020B0A04020102020204" pitchFamily="34" charset="0"/>
              </a:rPr>
              <a:t>Sommaire :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7DA37A4-14AF-B266-F2BF-97C2AF39D995}"/>
              </a:ext>
            </a:extLst>
          </p:cNvPr>
          <p:cNvSpPr txBox="1"/>
          <p:nvPr/>
        </p:nvSpPr>
        <p:spPr>
          <a:xfrm>
            <a:off x="0" y="1822663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latin typeface="Arial Black" panose="020B0A04020102020204" pitchFamily="34" charset="0"/>
                <a:cs typeface="Arial" panose="020B0604020202020204" pitchFamily="34" charset="0"/>
              </a:rPr>
              <a:t>Partie 1</a:t>
            </a:r>
            <a:r>
              <a:rPr lang="fr-FR" sz="4000" dirty="0">
                <a:latin typeface="Arial Black" panose="020B0A04020102020204" pitchFamily="34" charset="0"/>
                <a:cs typeface="Arial" panose="020B0604020202020204" pitchFamily="34" charset="0"/>
              </a:rPr>
              <a:t> - </a:t>
            </a:r>
            <a:r>
              <a:rPr lang="fr-FR" sz="4000" dirty="0">
                <a:solidFill>
                  <a:srgbClr val="FFCC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L’histoire / le lore du jeu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FF29AB3-F97E-7152-78F6-FD400586D30D}"/>
              </a:ext>
            </a:extLst>
          </p:cNvPr>
          <p:cNvSpPr txBox="1"/>
          <p:nvPr/>
        </p:nvSpPr>
        <p:spPr>
          <a:xfrm>
            <a:off x="0" y="27631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latin typeface="Arial Black" panose="020B0A04020102020204" pitchFamily="34" charset="0"/>
                <a:cs typeface="Arial" panose="020B0604020202020204" pitchFamily="34" charset="0"/>
              </a:rPr>
              <a:t>Partie 2 </a:t>
            </a:r>
            <a:r>
              <a:rPr lang="fr-FR" sz="4000" dirty="0">
                <a:latin typeface="Arial Black" panose="020B0A04020102020204" pitchFamily="34" charset="0"/>
                <a:cs typeface="Arial" panose="020B0604020202020204" pitchFamily="34" charset="0"/>
              </a:rPr>
              <a:t>- </a:t>
            </a:r>
            <a:r>
              <a:rPr lang="fr-FR" sz="4000" dirty="0">
                <a:solidFill>
                  <a:schemeClr val="accent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Le but du jeu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67A2433-3642-C7A3-076A-2E81C86962EA}"/>
              </a:ext>
            </a:extLst>
          </p:cNvPr>
          <p:cNvSpPr txBox="1"/>
          <p:nvPr/>
        </p:nvSpPr>
        <p:spPr>
          <a:xfrm>
            <a:off x="0" y="370367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latin typeface="Arial Black" panose="020B0A04020102020204" pitchFamily="34" charset="0"/>
                <a:cs typeface="Arial" panose="020B0604020202020204" pitchFamily="34" charset="0"/>
              </a:rPr>
              <a:t>🏹</a:t>
            </a:r>
            <a:r>
              <a:rPr lang="fr-FR" sz="4000" u="sng" dirty="0">
                <a:latin typeface="Arial Black" panose="020B0A04020102020204" pitchFamily="34" charset="0"/>
                <a:cs typeface="Arial" panose="020B0604020202020204" pitchFamily="34" charset="0"/>
              </a:rPr>
              <a:t>Partie 3</a:t>
            </a:r>
            <a:r>
              <a:rPr lang="fr-FR" sz="4000" dirty="0">
                <a:latin typeface="Arial Black" panose="020B0A04020102020204" pitchFamily="34" charset="0"/>
                <a:cs typeface="Arial" panose="020B0604020202020204" pitchFamily="34" charset="0"/>
              </a:rPr>
              <a:t> - </a:t>
            </a:r>
            <a:r>
              <a:rPr lang="fr-FR" sz="40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Le gameplay &amp; mécaniques ⚔️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809E8CE-AB04-842E-9A4C-EB2C479CF09B}"/>
              </a:ext>
            </a:extLst>
          </p:cNvPr>
          <p:cNvSpPr txBox="1"/>
          <p:nvPr/>
        </p:nvSpPr>
        <p:spPr>
          <a:xfrm>
            <a:off x="962471" y="5306635"/>
            <a:ext cx="102670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u="sng" dirty="0">
                <a:latin typeface="Arial Black" panose="020B0A04020102020204" pitchFamily="34" charset="0"/>
                <a:cs typeface="Arial" panose="020B0604020202020204" pitchFamily="34" charset="0"/>
              </a:rPr>
              <a:t>Partie finale</a:t>
            </a:r>
            <a:r>
              <a:rPr lang="fr-FR" sz="4400" dirty="0">
                <a:latin typeface="Arial Black" panose="020B0A04020102020204" pitchFamily="34" charset="0"/>
                <a:cs typeface="Arial" panose="020B0604020202020204" pitchFamily="34" charset="0"/>
              </a:rPr>
              <a:t> - </a:t>
            </a:r>
            <a:r>
              <a:rPr lang="fr-FR" sz="4400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Démo du jeu </a:t>
            </a:r>
          </a:p>
        </p:txBody>
      </p:sp>
    </p:spTree>
    <p:extLst>
      <p:ext uri="{BB962C8B-B14F-4D97-AF65-F5344CB8AC3E}">
        <p14:creationId xmlns:p14="http://schemas.microsoft.com/office/powerpoint/2010/main" val="228385767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111230-AD11-D054-39C4-E7F18E1E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3871"/>
          </a:xfrm>
        </p:spPr>
        <p:txBody>
          <a:bodyPr/>
          <a:lstStyle/>
          <a:p>
            <a:pPr algn="ctr"/>
            <a:r>
              <a:rPr lang="fr-FR" b="1" u="sng" dirty="0"/>
              <a:t>Partie 1 – Le lore du jeu</a:t>
            </a:r>
          </a:p>
        </p:txBody>
      </p:sp>
      <p:pic>
        <p:nvPicPr>
          <p:cNvPr id="7" name="Image 6" descr="A cartoonish figure is depicted sleeping in a blue bed, with a dreamy expression and a peaceful atmosphere.&#10;&#10;Le contenu généré par l’IA peut être incorrect.">
            <a:extLst>
              <a:ext uri="{FF2B5EF4-FFF2-40B4-BE49-F238E27FC236}">
                <a16:creationId xmlns:a16="http://schemas.microsoft.com/office/drawing/2014/main" id="{E854E5E5-74D5-CC99-2037-06CA36039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3" y="1605901"/>
            <a:ext cx="4369950" cy="271880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0121B69-4177-3498-EC15-D7D1D89C790E}"/>
              </a:ext>
            </a:extLst>
          </p:cNvPr>
          <p:cNvSpPr txBox="1"/>
          <p:nvPr/>
        </p:nvSpPr>
        <p:spPr>
          <a:xfrm>
            <a:off x="5136597" y="2057362"/>
            <a:ext cx="63992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Tu rentres tu t’allonges comme ça</a:t>
            </a:r>
          </a:p>
          <a:p>
            <a:r>
              <a:rPr lang="fr-FR" sz="2800" b="1" dirty="0">
                <a:sym typeface="Wingdings" panose="05000000000000000000" pitchFamily="2" charset="2"/>
              </a:rPr>
              <a:t></a:t>
            </a:r>
            <a:endParaRPr lang="fr-FR" sz="2800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9A4DD58-8BF7-0B8E-53E4-D1FA49F7C92D}"/>
              </a:ext>
            </a:extLst>
          </p:cNvPr>
          <p:cNvSpPr txBox="1"/>
          <p:nvPr/>
        </p:nvSpPr>
        <p:spPr>
          <a:xfrm>
            <a:off x="838200" y="5074323"/>
            <a:ext cx="6399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Puis, d’un coup, y’a une flamme bleue elle te réveille dans ton rêve genre vas-y laisse moi dormir ?</a:t>
            </a:r>
          </a:p>
        </p:txBody>
      </p:sp>
      <p:pic>
        <p:nvPicPr>
          <p:cNvPr id="13" name="Image 12" descr="SALUT&#10;&#10;Le contenu généré par l’IA peut être incorrect.">
            <a:extLst>
              <a:ext uri="{FF2B5EF4-FFF2-40B4-BE49-F238E27FC236}">
                <a16:creationId xmlns:a16="http://schemas.microsoft.com/office/drawing/2014/main" id="{0A1E5B91-4B0F-2CC3-8EA3-6A390185B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81" y="3805278"/>
            <a:ext cx="3542862" cy="252710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0A86F68-4D39-7F44-DD15-79EF5D75B999}"/>
              </a:ext>
            </a:extLst>
          </p:cNvPr>
          <p:cNvSpPr txBox="1"/>
          <p:nvPr/>
        </p:nvSpPr>
        <p:spPr>
          <a:xfrm>
            <a:off x="4954578" y="2488249"/>
            <a:ext cx="6399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et tu tapes ta meilleure sieste</a:t>
            </a:r>
          </a:p>
        </p:txBody>
      </p:sp>
    </p:spTree>
    <p:extLst>
      <p:ext uri="{BB962C8B-B14F-4D97-AF65-F5344CB8AC3E}">
        <p14:creationId xmlns:p14="http://schemas.microsoft.com/office/powerpoint/2010/main" val="61027987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Fonds pour diaporamas : 15 exemples et modèles - Venngage">
            <a:extLst>
              <a:ext uri="{FF2B5EF4-FFF2-40B4-BE49-F238E27FC236}">
                <a16:creationId xmlns:a16="http://schemas.microsoft.com/office/drawing/2014/main" id="{62C09172-76D4-D2CB-D5B7-CF364C1D8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31"/>
            <a:ext cx="12192000" cy="6861431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F1D7A048-32AB-794B-A7AF-6612A571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3871"/>
          </a:xfrm>
        </p:spPr>
        <p:txBody>
          <a:bodyPr>
            <a:normAutofit/>
          </a:bodyPr>
          <a:lstStyle/>
          <a:p>
            <a:pPr algn="ctr"/>
            <a:r>
              <a:rPr lang="fr-FR" sz="4600" b="1" u="sng" dirty="0"/>
              <a:t>Partie 2 – Le but du jeu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97D0EB-31F4-AADC-F157-EDA5A66B287E}"/>
              </a:ext>
            </a:extLst>
          </p:cNvPr>
          <p:cNvSpPr txBox="1"/>
          <p:nvPr/>
        </p:nvSpPr>
        <p:spPr>
          <a:xfrm>
            <a:off x="460267" y="1798115"/>
            <a:ext cx="63394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latin typeface="Aptos Slab SemiBold" panose="020F0502020204030204" pitchFamily="34" charset="0"/>
                <a:cs typeface="Aharoni" panose="020F0502020204030204" pitchFamily="2" charset="-79"/>
              </a:rPr>
              <a:t>Le but ? Te réveiller demain matin</a:t>
            </a:r>
          </a:p>
          <a:p>
            <a:endParaRPr lang="fr-FR" sz="2400" b="1" u="sng" dirty="0">
              <a:latin typeface="Aptos Slab SemiBold" panose="020F0502020204030204" pitchFamily="34" charset="0"/>
              <a:cs typeface="Aharoni" panose="020F0502020204030204" pitchFamily="2" charset="-79"/>
            </a:endParaRPr>
          </a:p>
          <a:p>
            <a:r>
              <a:rPr lang="fr-FR" sz="2400" b="1" dirty="0">
                <a:latin typeface="Aptos Slab SemiBold" panose="020F0502020204030204" pitchFamily="34" charset="0"/>
                <a:cs typeface="Aharoni" panose="020F0502020204030204" pitchFamily="2" charset="-79"/>
              </a:rPr>
              <a:t>Pour cela, il faudra avancer dans l’histoire en effectuant diverses tâches, dans la carte du jeu (voir ci-dessous)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FB405DC-4D97-F34D-FD3B-38ABE1CCFBE6}"/>
              </a:ext>
            </a:extLst>
          </p:cNvPr>
          <p:cNvSpPr txBox="1"/>
          <p:nvPr/>
        </p:nvSpPr>
        <p:spPr>
          <a:xfrm>
            <a:off x="7549533" y="4407399"/>
            <a:ext cx="4381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(spoil de la map)</a:t>
            </a:r>
          </a:p>
        </p:txBody>
      </p:sp>
      <p:pic>
        <p:nvPicPr>
          <p:cNvPr id="10" name="Image 9" descr="The image is a text-based game interface displaying a shop where you can buy and sell items like gold, healing potions, poison potions, and various animal hides, with prices listed for each item.&#10;&#10;Le contenu généré par l’IA peut être incorrect.">
            <a:extLst>
              <a:ext uri="{FF2B5EF4-FFF2-40B4-BE49-F238E27FC236}">
                <a16:creationId xmlns:a16="http://schemas.microsoft.com/office/drawing/2014/main" id="{7CE70186-CE0D-75DE-1D1B-602261C21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47" y="4338623"/>
            <a:ext cx="3691798" cy="20254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E85EF0A0-7E00-DF01-B86D-D6AC33A48966}"/>
                  </a:ext>
                </a:extLst>
              </p14:cNvPr>
              <p14:cNvContentPartPr/>
              <p14:nvPr/>
            </p14:nvContentPartPr>
            <p14:xfrm>
              <a:off x="521447" y="4097182"/>
              <a:ext cx="7462676" cy="360"/>
            </p14:xfrm>
          </p:contentPart>
        </mc:Choice>
        <mc:Fallback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E85EF0A0-7E00-DF01-B86D-D6AC33A489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5327" y="4091062"/>
                <a:ext cx="7474916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F1259AF3-4834-B990-3D7D-D4B6D4BAA6BF}"/>
                  </a:ext>
                </a:extLst>
              </p14:cNvPr>
              <p14:cNvContentPartPr/>
              <p14:nvPr/>
            </p14:nvContentPartPr>
            <p14:xfrm>
              <a:off x="527567" y="4232182"/>
              <a:ext cx="7456556" cy="3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F1259AF3-4834-B990-3D7D-D4B6D4BAA6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1447" y="4226062"/>
                <a:ext cx="7468796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ZoneTexte 12">
            <a:extLst>
              <a:ext uri="{FF2B5EF4-FFF2-40B4-BE49-F238E27FC236}">
                <a16:creationId xmlns:a16="http://schemas.microsoft.com/office/drawing/2014/main" id="{5743DCB2-65B1-1627-6271-758070B8ECC7}"/>
              </a:ext>
            </a:extLst>
          </p:cNvPr>
          <p:cNvSpPr txBox="1"/>
          <p:nvPr/>
        </p:nvSpPr>
        <p:spPr>
          <a:xfrm>
            <a:off x="4731558" y="4929593"/>
            <a:ext cx="4136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Aptos Slab SemiBold" panose="020B0004020202020204" pitchFamily="34" charset="0"/>
              </a:rPr>
              <a:t>Évidemment, des PNJ vous aiderons dans votre aventure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8CBCE8C8-BB41-FCDF-2C63-8B0B6F0A14BB}"/>
                  </a:ext>
                </a:extLst>
              </p14:cNvPr>
              <p14:cNvContentPartPr/>
              <p14:nvPr/>
            </p14:nvContentPartPr>
            <p14:xfrm>
              <a:off x="4728947" y="5843542"/>
              <a:ext cx="1321560" cy="55836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8CBCE8C8-BB41-FCDF-2C63-8B0B6F0A14B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22827" y="5837422"/>
                <a:ext cx="133380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4A0278BF-42D6-55FA-A25C-1D03BE28972B}"/>
                  </a:ext>
                </a:extLst>
              </p14:cNvPr>
              <p14:cNvContentPartPr/>
              <p14:nvPr/>
            </p14:nvContentPartPr>
            <p14:xfrm>
              <a:off x="5567837" y="6062602"/>
              <a:ext cx="68400" cy="15336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4A0278BF-42D6-55FA-A25C-1D03BE28972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61717" y="6056482"/>
                <a:ext cx="8064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e 25">
            <a:extLst>
              <a:ext uri="{FF2B5EF4-FFF2-40B4-BE49-F238E27FC236}">
                <a16:creationId xmlns:a16="http://schemas.microsoft.com/office/drawing/2014/main" id="{C7F510D6-994B-11BA-C5D7-D8BD6BAF96A5}"/>
              </a:ext>
            </a:extLst>
          </p:cNvPr>
          <p:cNvGrpSpPr/>
          <p:nvPr/>
        </p:nvGrpSpPr>
        <p:grpSpPr>
          <a:xfrm>
            <a:off x="5038367" y="6060442"/>
            <a:ext cx="423360" cy="142200"/>
            <a:chOff x="4966367" y="5711782"/>
            <a:chExt cx="42336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36540199-0A07-E95B-5AB8-D96408D92143}"/>
                    </a:ext>
                  </a:extLst>
                </p14:cNvPr>
                <p14:cNvContentPartPr/>
                <p14:nvPr/>
              </p14:nvContentPartPr>
              <p14:xfrm>
                <a:off x="4966367" y="5711782"/>
                <a:ext cx="127440" cy="13248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36540199-0A07-E95B-5AB8-D96408D9214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0247" y="5705662"/>
                  <a:ext cx="139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F9194CD3-B4FA-553A-0F58-428748AC8E20}"/>
                    </a:ext>
                  </a:extLst>
                </p14:cNvPr>
                <p14:cNvContentPartPr/>
                <p14:nvPr/>
              </p14:nvContentPartPr>
              <p14:xfrm>
                <a:off x="5132327" y="5737702"/>
                <a:ext cx="23040" cy="10584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F9194CD3-B4FA-553A-0F58-428748AC8E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26207" y="5731582"/>
                  <a:ext cx="35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25F135C2-A3C5-BDAC-0CF8-C8F5263FCA11}"/>
                    </a:ext>
                  </a:extLst>
                </p14:cNvPr>
                <p14:cNvContentPartPr/>
                <p14:nvPr/>
              </p14:nvContentPartPr>
              <p14:xfrm>
                <a:off x="5211167" y="5737702"/>
                <a:ext cx="18000" cy="11628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25F135C2-A3C5-BDAC-0CF8-C8F5263FCA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05047" y="5731582"/>
                  <a:ext cx="302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BAA44805-EEA9-E699-C485-9720D83CA9D6}"/>
                    </a:ext>
                  </a:extLst>
                </p14:cNvPr>
                <p14:cNvContentPartPr/>
                <p14:nvPr/>
              </p14:nvContentPartPr>
              <p14:xfrm>
                <a:off x="5148527" y="5799262"/>
                <a:ext cx="48600" cy="36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BAA44805-EEA9-E699-C485-9720D83CA9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42407" y="5793142"/>
                  <a:ext cx="60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EED0CDBB-EB45-37F5-A524-A92D78B203B8}"/>
                    </a:ext>
                  </a:extLst>
                </p14:cNvPr>
                <p14:cNvContentPartPr/>
                <p14:nvPr/>
              </p14:nvContentPartPr>
              <p14:xfrm>
                <a:off x="5289287" y="5718982"/>
                <a:ext cx="100440" cy="12456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EED0CDBB-EB45-37F5-A524-A92D78B203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83167" y="5712862"/>
                  <a:ext cx="112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C439B2C4-7BE1-9834-9962-DAF5B8E34338}"/>
                    </a:ext>
                  </a:extLst>
                </p14:cNvPr>
                <p14:cNvContentPartPr/>
                <p14:nvPr/>
              </p14:nvContentPartPr>
              <p14:xfrm>
                <a:off x="5185607" y="5793142"/>
                <a:ext cx="23040" cy="360"/>
              </p14:xfrm>
            </p:contentPart>
          </mc:Choice>
          <mc:Fallback xmlns=""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C439B2C4-7BE1-9834-9962-DAF5B8E3433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79487" y="5787022"/>
                  <a:ext cx="3528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ZoneTexte 26">
            <a:extLst>
              <a:ext uri="{FF2B5EF4-FFF2-40B4-BE49-F238E27FC236}">
                <a16:creationId xmlns:a16="http://schemas.microsoft.com/office/drawing/2014/main" id="{EFA68EC0-43F4-6D94-0D9C-3AA4DD9B987D}"/>
              </a:ext>
            </a:extLst>
          </p:cNvPr>
          <p:cNvSpPr txBox="1"/>
          <p:nvPr/>
        </p:nvSpPr>
        <p:spPr>
          <a:xfrm>
            <a:off x="924420" y="6364084"/>
            <a:ext cx="2885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(second spoil du gameplay)</a:t>
            </a:r>
          </a:p>
        </p:txBody>
      </p:sp>
      <p:pic>
        <p:nvPicPr>
          <p:cNvPr id="9" name="Image 8" descr="The image is a vibrant, colored map of a region, possibly with distinct geographical or political boundaries.&#10;&#10;Le contenu généré par l’IA peut être incorrect.">
            <a:extLst>
              <a:ext uri="{FF2B5EF4-FFF2-40B4-BE49-F238E27FC236}">
                <a16:creationId xmlns:a16="http://schemas.microsoft.com/office/drawing/2014/main" id="{A107B4B9-D866-48FA-779C-0ADC0C39F2A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80762" y="1559075"/>
            <a:ext cx="2319479" cy="271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5687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 descr="Fonds pour diaporamas : 15 exemples et modèles - Venngage">
            <a:extLst>
              <a:ext uri="{FF2B5EF4-FFF2-40B4-BE49-F238E27FC236}">
                <a16:creationId xmlns:a16="http://schemas.microsoft.com/office/drawing/2014/main" id="{EC2D5291-800E-0055-7D80-B638DC5CC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431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2216D937-E979-9461-B916-D28406F6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918"/>
            <a:ext cx="10515600" cy="1113871"/>
          </a:xfrm>
        </p:spPr>
        <p:txBody>
          <a:bodyPr>
            <a:normAutofit/>
          </a:bodyPr>
          <a:lstStyle/>
          <a:p>
            <a:pPr algn="ctr"/>
            <a:r>
              <a:rPr lang="fr-FR" sz="4600" b="1" u="sng" dirty="0"/>
              <a:t>Partie 3 – Le gameplay &amp; mécaniques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6AD7203-F938-70AA-B600-24A75DC9F16A}"/>
              </a:ext>
            </a:extLst>
          </p:cNvPr>
          <p:cNvSpPr txBox="1"/>
          <p:nvPr/>
        </p:nvSpPr>
        <p:spPr>
          <a:xfrm>
            <a:off x="336188" y="1551152"/>
            <a:ext cx="305004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dirty="0"/>
              <a:t>Un style de </a:t>
            </a:r>
            <a:r>
              <a:rPr lang="fr-FR" sz="2600" dirty="0">
                <a:solidFill>
                  <a:srgbClr val="FF0000"/>
                </a:solidFill>
              </a:rPr>
              <a:t>combat</a:t>
            </a:r>
            <a:r>
              <a:rPr lang="fr-FR" sz="2600" dirty="0"/>
              <a:t> en </a:t>
            </a:r>
            <a:r>
              <a:rPr lang="fr-FR" sz="2600" b="1" u="sng" dirty="0"/>
              <a:t>tour par tour</a:t>
            </a:r>
            <a:r>
              <a:rPr lang="fr-FR" sz="2600" dirty="0"/>
              <a:t> ! </a:t>
            </a:r>
            <a:r>
              <a:rPr lang="fr-FR" sz="2600" dirty="0">
                <a:sym typeface="Wingdings" panose="05000000000000000000" pitchFamily="2" charset="2"/>
              </a:rPr>
              <a:t></a:t>
            </a:r>
            <a:endParaRPr lang="fr-FR" sz="26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DB0AC44-A7E8-459F-B6B1-6D47444A14A5}"/>
              </a:ext>
            </a:extLst>
          </p:cNvPr>
          <p:cNvSpPr txBox="1"/>
          <p:nvPr/>
        </p:nvSpPr>
        <p:spPr>
          <a:xfrm>
            <a:off x="8700638" y="1511632"/>
            <a:ext cx="305004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dirty="0"/>
              <a:t>Des </a:t>
            </a:r>
            <a:r>
              <a:rPr lang="fr-FR" sz="2600" u="sng" dirty="0">
                <a:solidFill>
                  <a:schemeClr val="bg2">
                    <a:lumMod val="50000"/>
                  </a:schemeClr>
                </a:solidFill>
              </a:rPr>
              <a:t>armes</a:t>
            </a:r>
            <a:r>
              <a:rPr lang="fr-FR" sz="2600" dirty="0"/>
              <a:t>, </a:t>
            </a:r>
            <a:r>
              <a:rPr lang="fr-FR" sz="2600" u="sng" dirty="0">
                <a:solidFill>
                  <a:schemeClr val="accent5">
                    <a:lumMod val="75000"/>
                  </a:schemeClr>
                </a:solidFill>
              </a:rPr>
              <a:t>sorts</a:t>
            </a:r>
            <a:r>
              <a:rPr lang="fr-FR" sz="2600" dirty="0"/>
              <a:t>, et </a:t>
            </a:r>
            <a:r>
              <a:rPr lang="fr-FR" sz="2600" u="sng" dirty="0">
                <a:solidFill>
                  <a:schemeClr val="accent2">
                    <a:lumMod val="50000"/>
                  </a:schemeClr>
                </a:solidFill>
              </a:rPr>
              <a:t>équipements</a:t>
            </a:r>
            <a:r>
              <a:rPr lang="fr-FR" sz="2600" dirty="0"/>
              <a:t> </a:t>
            </a:r>
            <a:r>
              <a:rPr lang="fr-FR" sz="2600" b="1" dirty="0"/>
              <a:t>jamais vu ailleurs</a:t>
            </a:r>
            <a:r>
              <a:rPr lang="fr-FR" sz="2600" dirty="0"/>
              <a:t> !</a:t>
            </a:r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33C324B8-94D2-2EFE-B76B-3840AF525678}"/>
              </a:ext>
            </a:extLst>
          </p:cNvPr>
          <p:cNvGrpSpPr/>
          <p:nvPr/>
        </p:nvGrpSpPr>
        <p:grpSpPr>
          <a:xfrm>
            <a:off x="200849" y="3064906"/>
            <a:ext cx="3866911" cy="3701519"/>
            <a:chOff x="8241217" y="3000131"/>
            <a:chExt cx="3866911" cy="3701519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C9CF4CE-2988-E9FE-8AC9-7026E23FEF78}"/>
                </a:ext>
              </a:extLst>
            </p:cNvPr>
            <p:cNvSpPr txBox="1"/>
            <p:nvPr/>
          </p:nvSpPr>
          <p:spPr>
            <a:xfrm>
              <a:off x="8376556" y="3000131"/>
              <a:ext cx="359623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2600" dirty="0"/>
                <a:t>Un système d’</a:t>
              </a:r>
              <a:r>
                <a:rPr lang="fr-FR" sz="2600" b="1" u="sng" dirty="0"/>
                <a:t>XP</a:t>
              </a:r>
              <a:r>
                <a:rPr lang="fr-FR" sz="2600" dirty="0"/>
                <a:t> et des </a:t>
              </a:r>
              <a:r>
                <a:rPr lang="fr-FR" sz="2600" b="1" u="sng" dirty="0">
                  <a:solidFill>
                    <a:srgbClr val="FFCC00"/>
                  </a:solidFill>
                </a:rPr>
                <a:t>quêtes</a:t>
              </a:r>
              <a:r>
                <a:rPr lang="fr-FR" sz="2600" dirty="0"/>
                <a:t> !</a:t>
              </a:r>
              <a:endParaRPr lang="fr-FR" sz="2600" u="sng" dirty="0"/>
            </a:p>
          </p:txBody>
        </p:sp>
        <p:pic>
          <p:nvPicPr>
            <p:cNvPr id="25" name="Image 24" descr="The image displays a list of quests for a guild member, detailing the rank, experience points, and gold reward for completing tasks such as rat infestation, wolf patrol, goblin training, and a sand arena trial.&#10;&#10;Le contenu généré par l’IA peut être incorrect.">
              <a:extLst>
                <a:ext uri="{FF2B5EF4-FFF2-40B4-BE49-F238E27FC236}">
                  <a16:creationId xmlns:a16="http://schemas.microsoft.com/office/drawing/2014/main" id="{5E19DBCC-DD53-3737-D1E3-C6524A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41217" y="4411115"/>
              <a:ext cx="3866911" cy="2290535"/>
            </a:xfrm>
            <a:prstGeom prst="rect">
              <a:avLst/>
            </a:prstGeom>
          </p:spPr>
        </p:pic>
        <p:pic>
          <p:nvPicPr>
            <p:cNvPr id="31" name="Image 30" descr="F&#10;&#10;Le contenu généré par l’IA peut être incorrect.">
              <a:extLst>
                <a:ext uri="{FF2B5EF4-FFF2-40B4-BE49-F238E27FC236}">
                  <a16:creationId xmlns:a16="http://schemas.microsoft.com/office/drawing/2014/main" id="{5BA579D2-7289-3495-4756-CE3EA480F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41217" y="3606188"/>
              <a:ext cx="2132585" cy="750978"/>
            </a:xfrm>
            <a:prstGeom prst="rect">
              <a:avLst/>
            </a:prstGeom>
          </p:spPr>
        </p:pic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01A8EAE2-60B9-29FC-2109-2ED4968B112B}"/>
              </a:ext>
            </a:extLst>
          </p:cNvPr>
          <p:cNvGrpSpPr/>
          <p:nvPr/>
        </p:nvGrpSpPr>
        <p:grpSpPr>
          <a:xfrm>
            <a:off x="4872710" y="5125534"/>
            <a:ext cx="7012949" cy="1675317"/>
            <a:chOff x="288436" y="5144641"/>
            <a:chExt cx="7012949" cy="1675317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A50C5D9A-EF41-3D65-2577-451D3DC9B9E2}"/>
                </a:ext>
              </a:extLst>
            </p:cNvPr>
            <p:cNvSpPr txBox="1"/>
            <p:nvPr/>
          </p:nvSpPr>
          <p:spPr>
            <a:xfrm>
              <a:off x="288436" y="5491514"/>
              <a:ext cx="3050045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600" dirty="0"/>
                <a:t>Des mobs </a:t>
              </a:r>
              <a:r>
                <a:rPr lang="fr-FR" sz="2600" b="1" u="sng" dirty="0"/>
                <a:t>diverses</a:t>
              </a:r>
              <a:r>
                <a:rPr lang="fr-FR" sz="2600" dirty="0"/>
                <a:t> et </a:t>
              </a:r>
              <a:r>
                <a:rPr lang="fr-FR" sz="2600" b="1" u="sng" dirty="0"/>
                <a:t>originaux</a:t>
              </a:r>
              <a:r>
                <a:rPr lang="fr-FR" sz="2600" dirty="0"/>
                <a:t> !</a:t>
              </a:r>
              <a:endParaRPr lang="fr-FR" sz="2600" b="1" u="sng" dirty="0"/>
            </a:p>
          </p:txBody>
        </p:sp>
        <p:pic>
          <p:nvPicPr>
            <p:cNvPr id="17" name="Image 16" descr="The text provided seems to be a random sequence of characters, symbols, and fragments of text that does not form a coherent sentence or description. It appears to be a mishmash of symbols, numbers, and fragments of words, making it difficult to interpret.&#10;&#10;Le contenu généré par l’IA peut être incorrect.">
              <a:extLst>
                <a:ext uri="{FF2B5EF4-FFF2-40B4-BE49-F238E27FC236}">
                  <a16:creationId xmlns:a16="http://schemas.microsoft.com/office/drawing/2014/main" id="{5C7D8CD3-A7DB-FA2C-2A94-33F920B43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99875" y="5144641"/>
              <a:ext cx="1232979" cy="1273349"/>
            </a:xfrm>
            <a:prstGeom prst="rect">
              <a:avLst/>
            </a:prstGeom>
          </p:spPr>
        </p:pic>
        <p:pic>
          <p:nvPicPr>
            <p:cNvPr id="19" name="Image 18" descr="The text appears to be a corrupted or garbled representation, possibly a coding error or placeholder text, rather than an image description.&#10;&#10;Le contenu généré par l’IA peut être incorrect.">
              <a:extLst>
                <a:ext uri="{FF2B5EF4-FFF2-40B4-BE49-F238E27FC236}">
                  <a16:creationId xmlns:a16="http://schemas.microsoft.com/office/drawing/2014/main" id="{3445A8C0-71D3-D16C-4027-EE14FE4FA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68405" y="5311699"/>
              <a:ext cx="1232980" cy="1020619"/>
            </a:xfrm>
            <a:prstGeom prst="rect">
              <a:avLst/>
            </a:prstGeom>
          </p:spPr>
        </p:pic>
        <p:pic>
          <p:nvPicPr>
            <p:cNvPr id="23" name="Image 22" descr="The image depicts a red geometric figure resembling a cartoonish face with glowing red lines around it, set against a black background.&#10;&#10;Le contenu généré par l’IA peut être incorrect.">
              <a:extLst>
                <a:ext uri="{FF2B5EF4-FFF2-40B4-BE49-F238E27FC236}">
                  <a16:creationId xmlns:a16="http://schemas.microsoft.com/office/drawing/2014/main" id="{4F2A1446-D41E-A227-3950-01CB4ED01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87000" y="5693520"/>
              <a:ext cx="659698" cy="1008130"/>
            </a:xfrm>
            <a:prstGeom prst="rect">
              <a:avLst/>
            </a:prstGeom>
          </p:spPr>
        </p:pic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9C789840-10DC-3378-3224-47BB615578F8}"/>
                </a:ext>
              </a:extLst>
            </p:cNvPr>
            <p:cNvSpPr txBox="1"/>
            <p:nvPr/>
          </p:nvSpPr>
          <p:spPr>
            <a:xfrm>
              <a:off x="3594737" y="6450626"/>
              <a:ext cx="10432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(gobelin)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27CAECAE-DCBC-0A8D-9970-E1A9A414FE7D}"/>
                </a:ext>
              </a:extLst>
            </p:cNvPr>
            <p:cNvSpPr txBox="1"/>
            <p:nvPr/>
          </p:nvSpPr>
          <p:spPr>
            <a:xfrm>
              <a:off x="6163268" y="6332318"/>
              <a:ext cx="10432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(slime)</a:t>
              </a: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35873F62-B917-5BB1-1E3F-48463A7ED552}"/>
                </a:ext>
              </a:extLst>
            </p:cNvPr>
            <p:cNvSpPr txBox="1"/>
            <p:nvPr/>
          </p:nvSpPr>
          <p:spPr>
            <a:xfrm>
              <a:off x="4864298" y="5194338"/>
              <a:ext cx="10432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(kobolt)</a:t>
              </a:r>
            </a:p>
          </p:txBody>
        </p:sp>
      </p:grp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A7BCA33B-9C78-1496-4184-78FC9038AC1A}"/>
              </a:ext>
            </a:extLst>
          </p:cNvPr>
          <p:cNvCxnSpPr/>
          <p:nvPr/>
        </p:nvCxnSpPr>
        <p:spPr>
          <a:xfrm>
            <a:off x="4516769" y="4915666"/>
            <a:ext cx="7511581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803172D3-74BB-CAFE-4BE3-7A66F3A5DD79}"/>
              </a:ext>
            </a:extLst>
          </p:cNvPr>
          <p:cNvCxnSpPr>
            <a:cxnSpLocks/>
          </p:cNvCxnSpPr>
          <p:nvPr/>
        </p:nvCxnSpPr>
        <p:spPr>
          <a:xfrm flipV="1">
            <a:off x="4322387" y="3166647"/>
            <a:ext cx="0" cy="3599778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E03F9FB9-983A-93EB-FEB0-FC5EF87CCD85}"/>
              </a:ext>
            </a:extLst>
          </p:cNvPr>
          <p:cNvCxnSpPr>
            <a:cxnSpLocks/>
          </p:cNvCxnSpPr>
          <p:nvPr/>
        </p:nvCxnSpPr>
        <p:spPr>
          <a:xfrm>
            <a:off x="107042" y="3003767"/>
            <a:ext cx="7977107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Image 51" descr="Flee.&#10;&#10;Le contenu généré par l’IA peut être incorrect.">
            <a:extLst>
              <a:ext uri="{FF2B5EF4-FFF2-40B4-BE49-F238E27FC236}">
                <a16:creationId xmlns:a16="http://schemas.microsoft.com/office/drawing/2014/main" id="{6BD9C875-C21A-2E50-216F-B2B1A0E9B8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2421" y="1598089"/>
            <a:ext cx="3676839" cy="1028753"/>
          </a:xfrm>
          <a:prstGeom prst="rect">
            <a:avLst/>
          </a:prstGeom>
        </p:spPr>
      </p:pic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8AB780C4-2D29-0B2B-A6D5-76D3CEA2E13D}"/>
              </a:ext>
            </a:extLst>
          </p:cNvPr>
          <p:cNvCxnSpPr>
            <a:cxnSpLocks/>
          </p:cNvCxnSpPr>
          <p:nvPr/>
        </p:nvCxnSpPr>
        <p:spPr>
          <a:xfrm flipV="1">
            <a:off x="8304222" y="1368049"/>
            <a:ext cx="0" cy="3393713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DA725E1E-8F4C-3C15-A6AF-73C3D8D97EF5}"/>
              </a:ext>
            </a:extLst>
          </p:cNvPr>
          <p:cNvSpPr txBox="1"/>
          <p:nvPr/>
        </p:nvSpPr>
        <p:spPr>
          <a:xfrm>
            <a:off x="4403948" y="3131546"/>
            <a:ext cx="38508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u="sng" dirty="0">
                <a:solidFill>
                  <a:srgbClr val="FF0000"/>
                </a:solidFill>
              </a:rPr>
              <a:t>Ça,</a:t>
            </a:r>
          </a:p>
          <a:p>
            <a:pPr algn="ctr"/>
            <a:r>
              <a:rPr lang="fr-FR" sz="5000" b="1" u="sng" dirty="0">
                <a:solidFill>
                  <a:srgbClr val="FF0000"/>
                </a:solidFill>
              </a:rPr>
              <a:t>c’est RUNA !</a:t>
            </a:r>
          </a:p>
        </p:txBody>
      </p:sp>
      <p:pic>
        <p:nvPicPr>
          <p:cNvPr id="61" name="Image 60" descr="The image displays a list of starting equipment for a character, including a hat, tunic, pants, boots, and a sword.&#10;&#10;Le contenu généré par l’IA peut être incorrect.">
            <a:extLst>
              <a:ext uri="{FF2B5EF4-FFF2-40B4-BE49-F238E27FC236}">
                <a16:creationId xmlns:a16="http://schemas.microsoft.com/office/drawing/2014/main" id="{C065E657-151C-F127-6260-632634B1C8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2118" y="3061331"/>
            <a:ext cx="2153151" cy="12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07881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 11">
            <a:extLst>
              <a:ext uri="{FF2B5EF4-FFF2-40B4-BE49-F238E27FC236}">
                <a16:creationId xmlns:a16="http://schemas.microsoft.com/office/drawing/2014/main" id="{C46B6D8C-CE71-5F39-059D-07BD791074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338980"/>
              </p:ext>
            </p:extLst>
          </p:nvPr>
        </p:nvGraphicFramePr>
        <p:xfrm>
          <a:off x="0" y="-27278"/>
          <a:ext cx="12191999" cy="6885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6993388" imgH="4109366" progId="Paint.Picture">
                  <p:embed/>
                </p:oleObj>
              </mc:Choice>
              <mc:Fallback>
                <p:oleObj name="Bitmap Image" r:id="rId6" imgW="6993388" imgH="4109366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-27278"/>
                        <a:ext cx="12191999" cy="6885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8316EA4E-3680-C128-6493-3B6DFCDFD41C}"/>
              </a:ext>
            </a:extLst>
          </p:cNvPr>
          <p:cNvSpPr txBox="1"/>
          <p:nvPr/>
        </p:nvSpPr>
        <p:spPr>
          <a:xfrm>
            <a:off x="0" y="33139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b="1" u="sng" dirty="0">
                <a:solidFill>
                  <a:srgbClr val="FF0000"/>
                </a:solidFill>
              </a:rPr>
              <a:t>PLACE À LA DÉMO DU JEU !</a:t>
            </a:r>
          </a:p>
        </p:txBody>
      </p:sp>
      <p:pic>
        <p:nvPicPr>
          <p:cNvPr id="6" name="Image 5" descr="Illustration D'icône D'emoji De Signal De Manette De Jeu ...">
            <a:extLst>
              <a:ext uri="{FF2B5EF4-FFF2-40B4-BE49-F238E27FC236}">
                <a16:creationId xmlns:a16="http://schemas.microsoft.com/office/drawing/2014/main" id="{B709254B-6AE1-26ED-D1E9-E92BD9CE3D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603" y="4903951"/>
            <a:ext cx="1955068" cy="1514922"/>
          </a:xfrm>
          <a:prstGeom prst="rect">
            <a:avLst/>
          </a:prstGeom>
        </p:spPr>
      </p:pic>
      <p:pic>
        <p:nvPicPr>
          <p:cNvPr id="9" name="Image 8" descr="A cartoon character stands in a smiling pose, holding out a hand to give a thumbs-up gesture.&#10;&#10;Le contenu généré par l’IA peut être incorrect.">
            <a:extLst>
              <a:ext uri="{FF2B5EF4-FFF2-40B4-BE49-F238E27FC236}">
                <a16:creationId xmlns:a16="http://schemas.microsoft.com/office/drawing/2014/main" id="{4AD8D48F-92A5-2DBD-6026-6694C190E7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7664" y="3905215"/>
            <a:ext cx="4955207" cy="2846734"/>
          </a:xfrm>
          <a:prstGeom prst="rect">
            <a:avLst/>
          </a:prstGeom>
        </p:spPr>
      </p:pic>
      <p:pic>
        <p:nvPicPr>
          <p:cNvPr id="14" name="Image 13" descr="The image depicts a cartoon-style smiling face with a thumbs-up gesture.&#10;&#10;Le contenu généré par l’IA peut être incorrect.">
            <a:extLst>
              <a:ext uri="{FF2B5EF4-FFF2-40B4-BE49-F238E27FC236}">
                <a16:creationId xmlns:a16="http://schemas.microsoft.com/office/drawing/2014/main" id="{F9EA830D-D268-1EDF-030A-377A07D983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6144" y="1615699"/>
            <a:ext cx="2627720" cy="2492651"/>
          </a:xfrm>
          <a:prstGeom prst="rect">
            <a:avLst/>
          </a:prstGeom>
        </p:spPr>
      </p:pic>
      <p:pic>
        <p:nvPicPr>
          <p:cNvPr id="16" name="Image 15" descr="A cartoonish smiling face with hands open, placed next to an open laptop.&#10;&#10;Le contenu généré par l’IA peut être incorrect.">
            <a:extLst>
              <a:ext uri="{FF2B5EF4-FFF2-40B4-BE49-F238E27FC236}">
                <a16:creationId xmlns:a16="http://schemas.microsoft.com/office/drawing/2014/main" id="{E6B36DC5-EBAB-6C50-414E-5D25767DCB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213" y="1347055"/>
            <a:ext cx="4624050" cy="2656487"/>
          </a:xfrm>
          <a:prstGeom prst="rect">
            <a:avLst/>
          </a:prstGeom>
        </p:spPr>
      </p:pic>
      <p:pic>
        <p:nvPicPr>
          <p:cNvPr id="17" name="yayying">
            <a:hlinkClick r:id="" action="ppaction://media"/>
            <a:extLst>
              <a:ext uri="{FF2B5EF4-FFF2-40B4-BE49-F238E27FC236}">
                <a16:creationId xmlns:a16="http://schemas.microsoft.com/office/drawing/2014/main" id="{6EC586F7-9B75-F529-62D1-0A842A802E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642951" y="636277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37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over/>
        <p:sndAc>
          <p:stSnd>
            <p:snd r:embed="rId5" name="drumroll.wav"/>
          </p:stSnd>
        </p:sndAc>
      </p:transition>
    </mc:Choice>
    <mc:Fallback>
      <p:transition spd="slow">
        <p:cover/>
        <p:sndAc>
          <p:stSnd>
            <p:snd r:embed="rId5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12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207</Words>
  <Application>Microsoft Office PowerPoint</Application>
  <PresentationFormat>Grand écran</PresentationFormat>
  <Paragraphs>35</Paragraphs>
  <Slides>6</Slides>
  <Notes>2</Notes>
  <HiddenSlides>0</HiddenSlides>
  <MMClips>1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6" baseType="lpstr">
      <vt:lpstr>Algerian</vt:lpstr>
      <vt:lpstr>Aptos</vt:lpstr>
      <vt:lpstr>Aptos Display</vt:lpstr>
      <vt:lpstr>Aptos Slab SemiBold</vt:lpstr>
      <vt:lpstr>Arial</vt:lpstr>
      <vt:lpstr>Arial Black</vt:lpstr>
      <vt:lpstr>Kunstler Script</vt:lpstr>
      <vt:lpstr>Wingdings</vt:lpstr>
      <vt:lpstr>Thème Office</vt:lpstr>
      <vt:lpstr>Paintbrush Picture</vt:lpstr>
      <vt:lpstr>Présentation PowerPoint</vt:lpstr>
      <vt:lpstr>Présentation PowerPoint</vt:lpstr>
      <vt:lpstr>Partie 1 – Le lore du jeu</vt:lpstr>
      <vt:lpstr>Partie 2 – Le but du jeu</vt:lpstr>
      <vt:lpstr>Partie 3 – Le gameplay &amp; mécaniques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BOUARD Axel</dc:creator>
  <cp:lastModifiedBy>DE BOUARD Axel</cp:lastModifiedBy>
  <cp:revision>3</cp:revision>
  <dcterms:created xsi:type="dcterms:W3CDTF">2026-09-22T12:57:38Z</dcterms:created>
  <dcterms:modified xsi:type="dcterms:W3CDTF">2026-09-23T08:48:09Z</dcterms:modified>
</cp:coreProperties>
</file>